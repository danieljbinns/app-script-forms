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·  Employee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731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April 2026  ·  Internal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9445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9090"/>
                </a:solidFill>
                <a:latin typeface="Segoe UI"/>
              </a:rPr>
              <a:t>TEAM GROUP  ·  INTERNAL TOOLING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Employee HR Workflow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B1C2D"/>
                </a:solidFill>
                <a:latin typeface="Segoe UI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3291840"/>
            <a:ext cx="1828800" cy="36576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29000"/>
            <a:ext cx="94457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CECEC"/>
                </a:solidFill>
                <a:latin typeface="Segoe UI"/>
              </a:rPr>
              <a:t>A production-grade, multi-step HR workflow engine built entirely inside Google Workspace —
zero external servers, zero paid SaaS, zero database.
Four workflow types. Full role-based access. Complete audit trails.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09090"/>
                </a:solidFill>
                <a:latin typeface="Segoe UI"/>
              </a:rPr>
              <a:t>Use arrow keys or click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·  Employee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731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54864" cy="4572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9090"/>
                </a:solidFill>
                <a:latin typeface="Segoe UI"/>
              </a:rPr>
              <a:t>Key numbers from a 5-month solo 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91640"/>
            <a:ext cx="5303520" cy="2011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C853"/>
                </a:solidFill>
                <a:latin typeface="Segoe UI"/>
              </a:rPr>
              <a:t>~174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80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9090"/>
                </a:solidFill>
                <a:latin typeface="Segoe UI"/>
              </a:rPr>
              <a:t>HUMAN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9090"/>
                </a:solidFill>
                <a:latin typeface="Segoe UI"/>
              </a:rPr>
              <a:t>48 active days · Dec 2025–Apr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691640"/>
            <a:ext cx="5303520" cy="2011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2011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2196F3"/>
                </a:solidFill>
                <a:latin typeface="Segoe UI"/>
              </a:rP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880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9090"/>
                </a:solidFill>
                <a:latin typeface="Segoe UI"/>
              </a:rPr>
              <a:t>RECURRING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9090"/>
                </a:solidFill>
                <a:latin typeface="Segoe UI"/>
              </a:rPr>
              <a:t>vs. $180K–$450K+/yr equivalent platforms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941064"/>
            <a:ext cx="5303520" cy="2011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261104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B1C2D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1297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9090"/>
                </a:solidFill>
                <a:latin typeface="Segoe UI"/>
              </a:rPr>
              <a:t>WORKFLOW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4498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9090"/>
                </a:solidFill>
                <a:latin typeface="Segoe UI"/>
              </a:rPr>
              <a:t>Live in production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3941064"/>
            <a:ext cx="5303520" cy="2011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08192" y="4261104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AB00"/>
                </a:solidFill>
                <a:latin typeface="Segoe UI"/>
              </a:rPr>
              <a:t>331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51297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9090"/>
                </a:solidFill>
                <a:latin typeface="Segoe UI"/>
              </a:rPr>
              <a:t>TRACKED 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54498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9090"/>
                </a:solidFill>
                <a:latin typeface="Segoe UI"/>
              </a:rPr>
              <a:t>128 git commits · 203 clasp saves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·  Employee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731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What Was Delivered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54864" cy="4572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What Was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9090"/>
                </a:solidFill>
                <a:latin typeface="Segoe UI"/>
              </a:rPr>
              <a:t>Six capabilities. One system. Zero new software. Zero added cost.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91640"/>
            <a:ext cx="3694176" cy="4572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37360"/>
            <a:ext cx="3694176" cy="1691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01368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4 HR Workflow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67128"/>
            <a:ext cx="341985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  <a:latin typeface="Segoe UI"/>
              </a:rPr>
              <a:t>New Hire, Termination / End of Employment, Equipment Request, and Position / Site Change — each fully automated from first request through to completion.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691640"/>
            <a:ext cx="3694176" cy="4572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37360"/>
            <a:ext cx="3694176" cy="1691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801368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Multi-Step Approval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167128"/>
            <a:ext cx="341985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  <a:latin typeface="Segoe UI"/>
              </a:rPr>
              <a:t>Every request moves through defined steps in order. No step can be skipped or completed twice — the system enforces the process, not individual discipline.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94192" y="1691640"/>
            <a:ext cx="3694176" cy="4572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4192" y="1737360"/>
            <a:ext cx="3694176" cy="1691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8784" y="1801368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Role-Based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2167128"/>
            <a:ext cx="341985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  <a:latin typeface="Segoe UI"/>
              </a:rPr>
              <a:t>HR, IT, Safety, and Managers each see only their own queue — controlled through existing Google Groups with no new accounts or permissions to manage.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593592"/>
            <a:ext cx="3694176" cy="4572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639312"/>
            <a:ext cx="3694176" cy="1691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03320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Automatic Task Routing &amp; Departmental 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341985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  <a:latin typeface="Segoe UI"/>
              </a:rPr>
              <a:t>IT credentials, fleet access, credit cards, purchasing accounts, safety onboarding — the right team is notified and assigned automatically. No manual forwarding, no missed handoffs.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3593592"/>
            <a:ext cx="3694176" cy="4572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3639312"/>
            <a:ext cx="3694176" cy="1691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3703320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Full Audit Trail &amp; Change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069080"/>
            <a:ext cx="341985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  <a:latin typeface="Segoe UI"/>
              </a:rPr>
              <a:t>Every action is timestamped and logged. Any edit notifies all affected parties with a full before/after summary — complete accountability at every step.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94192" y="3593592"/>
            <a:ext cx="3694176" cy="4572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94192" y="3639312"/>
            <a:ext cx="3694176" cy="1691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58784" y="3703320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Everything Stays in Google Workspace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4069080"/>
            <a:ext cx="341985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  <a:latin typeface="Segoe UI"/>
              </a:rPr>
              <a:t>All forms, workflow data, and history live in your existing Drive and Sheets — no vendor access to your HR data, no new platforms to learn, no integration contracts.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·  Employee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731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The Real Win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54864" cy="4572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Real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9090"/>
                </a:solidFill>
                <a:latin typeface="Segoe UI"/>
              </a:rPr>
              <a:t>The biggest win isn't the cost — it's workflows that actually get done and nothing that falls through.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486400" cy="38404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9090"/>
                </a:solidFill>
                <a:latin typeface="Segoe UI"/>
              </a:rPr>
              <a:t>THE OLD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✕  Excel or Word forms emailed between departments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7919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✕  No visibility on who acted, or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954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✕  Items lost in inboxes — no 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3989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✕  Specialists informed by manual forwarding, if at 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7024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✕  No audit trail for HR, compliance, or disputes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✕  Follow-ups relied entirely on individual memory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486400" cy="3840480"/>
          </a:xfrm>
          <a:prstGeom prst="rect">
            <a:avLst/>
          </a:prstGeom>
          <a:solidFill>
            <a:srgbClr val="04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53"/>
                </a:solidFill>
                <a:latin typeface="Segoe UI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4884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✓  Single tracked request per employee, start to finish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7919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✓  Every step timestamped — who acted and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0954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✓  Nothing can be skipped — the system enforces completion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73989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✓  Specialists auto-notified the moment they're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27024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✓  Full change history and audit trail on every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80060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✓  Zero manual follow-up for routine HR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·  Employee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731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Value &amp; Cost Avoidance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54864" cy="4572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Value &amp; Cost Avoidance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9090"/>
                </a:solidFill>
                <a:latin typeface="Segoe UI"/>
              </a:rPr>
              <a:t>Cost avoidance — not hypothetical savings. Real numbers from real platform pricing.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577840" cy="1554480"/>
          </a:xfrm>
          <a:prstGeom prst="rect">
            <a:avLst/>
          </a:prstGeom>
          <a:solidFill>
            <a:srgbClr val="201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AB00"/>
                </a:solidFill>
                <a:latin typeface="Segoe UI"/>
              </a:rPr>
              <a:t>$180K–$450K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CEC"/>
                </a:solidFill>
                <a:latin typeface="Segoe UI"/>
              </a:rPr>
              <a:t>Annual platform licensing cost avoided — BambooHR/Rippling $6–$9/user/mo ($108K–$162K/yr basic HR only). Workflow platforms $10–$25/user/mo = $180K–$450K/yr at 1,500 employees. This runs on Google Workspace TEAM Group already pays for.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5577840" cy="1554480"/>
          </a:xfrm>
          <a:prstGeom prst="rect">
            <a:avLst/>
          </a:prstGeom>
          <a:solidFill>
            <a:srgbClr val="04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853"/>
                </a:solidFill>
                <a:latin typeface="Segoe UI"/>
              </a:rPr>
              <a:t>$65K–$115K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688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CEC"/>
                </a:solidFill>
                <a:latin typeface="Segoe UI"/>
              </a:rPr>
              <a:t>External build cost avoided — outsourcing to a third-party developer would have cost $65,000–$115,000 as a one-time contract, before ongoing maintenance. Built internally using existing tools.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3383280"/>
          <a:ext cx="112928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377440"/>
                <a:gridCol w="2011680"/>
                <a:gridCol w="25146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Approach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Build / Setup Cost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Annual Recurring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Data Ownership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Workflow Tracking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C853"/>
                          </a:solidFill>
                          <a:latin typeface="Segoe UI"/>
                        </a:rPr>
                        <a:t>This Project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$0 external cost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$0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Full — in your Drive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End-to-end, audited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Outsource to contractor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$65K–$115K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Ongoing maintenance fees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Full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Depends on scope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SaaS Workflow Platform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Setup + integration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$180K–$450K+ (1,500 users)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Vendor-hosted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Yes, at significant cost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·  Employee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731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Why This Is Noteworthy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54864" cy="4572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Why This Is Noteworthy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9090"/>
                </a:solidFill>
                <a:latin typeface="Segoe UI"/>
              </a:rPr>
              <a:t>Enterprise workflow capabilities — built on tools you already 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91640"/>
            <a:ext cx="11055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ECEC"/>
                </a:solidFill>
                <a:latin typeface="Segoe UI"/>
              </a:rPr>
              <a:t>Google Forms and Sheets are used across the organization for simple data collection. This system uses those same tools to deliver what typically requires a dedicated enterprise platform: a fully automated, multi-step approval workflow with enforcement, routing, and audit trail.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286000"/>
          <a:ext cx="1127455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434072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What most people use Google Forms for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What this system does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Collect responses in a spreadsheet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Trigger a multi-step approval chain — each step only unlocks after the prior one is complete, enforced automatically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Send a single notification email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Route the right email to the right person at each step; edits notify all affected parties with a full before/after change summary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View raw submissions in a shared sheet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Role-filtered live dashboard — HR sees all open requests, IT sees only their queue, Safety sees only what's relevant to them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One form, one purpose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Four complete workflow types, each with its own routing logic, task assignments, and approval gates — all managed in one system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5074920"/>
            <a:ext cx="11274552" cy="1234440"/>
          </a:xfrm>
          <a:prstGeom prst="rect">
            <a:avLst/>
          </a:prstGeom>
          <a:solidFill>
            <a:srgbClr val="04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CEC"/>
                </a:solidFill>
                <a:latin typeface="Segoe UI"/>
              </a:rPr>
              <a:t>No off-the-shelf product does this inside Google Workspace. Platforms with comparable multi-step approval routing — Kissflow ($10–$20/user/mo), Nintex ($25K–$60K+/yr), Process Street ($30/user/mo) — are external systems where your HR data lives on a vendor's servers. This delivers the same category of functionality at zero recurring cost, with data that never leaves Google Drive.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·  Employee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731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Project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54864" cy="4572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Project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9090"/>
                </a:solidFill>
                <a:latin typeface="Segoe UI"/>
              </a:rPr>
              <a:t>5 months · solo · part-time — 331 tracked changes across 48 active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B5C6D"/>
                </a:solidFill>
                <a:latin typeface="Segoe UI"/>
              </a:rPr>
              <a:t>DEVELOPMENT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993392"/>
          <a:ext cx="11274552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6702552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Stream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Period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Foundation &amp; New Hire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Dec 2025 – Jan 2026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Core pipeline · NEW_EMP forms · first prod launch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Staging Environment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Feb 2026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3-environment separation · config architecture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Termination / EOE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Mar 2026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Full TERM/EOE workflow · specialist routing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Equipment Request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Mar – Apr 2026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Equipment + specialist task routing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Status / Position Change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Apr 2026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Status change pipeline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Action Items System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Apr 2026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Unified task model refactor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4206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Segoe UI"/>
              </a:rPr>
              <a:t>QA &amp; TESTING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480560"/>
          <a:ext cx="1127455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914400"/>
                <a:gridCol w="6702552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Session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Date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Hours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Scope / Output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New Hire QA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Jan 23, 2026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~3.5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72 workflows submitted — first prod launch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Staging Setup QA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Feb 24, 2026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~3 h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3 cross-environment workflow tests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TERM/EOE Sprint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Mar 6–9, 2026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~7.5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30 TERM/EOE workflows — gating &amp; routing confirmed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Full Regression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Apr 21–22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~14 h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All 4 workflow types · Action Items · Equipment · Status Change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Pre-launch Verify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Apr 27–28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~12.5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38 dev deploys · all gates signed off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·  Employee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731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Development &amp;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54864" cy="4572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Development &amp;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9090"/>
                </a:solidFill>
                <a:latin typeface="Segoe UI"/>
              </a:rPr>
              <a:t>~125 h development · ~40 h QA · 105 staging workflows submitted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91640"/>
          <a:ext cx="1126540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1188720"/>
                <a:gridCol w="1005840"/>
                <a:gridCol w="1005840"/>
                <a:gridCol w="1005840"/>
                <a:gridCol w="3218688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Period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Tracked Changes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Dev Hours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QA Hours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Total Hours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QA Submissions / Output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Foundation &amp; Architecture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Dec 2025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~15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~15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New Hire Workflow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Jan 2026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~18 h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~3.5 h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~22 h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72 NEW_EMP workflows — first prod launch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Staging Environment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Feb 2026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~6.5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~3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~9.5 h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3 cross-environment tests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C853"/>
                          </a:solidFill>
                          <a:latin typeface="Segoe UI"/>
                        </a:rPr>
                        <a:t>Termination / EOE + Equipment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Mar 2026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94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~36 h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~7.5 h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~44 h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30 TERM/EOE workflows submitted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C853"/>
                          </a:solidFill>
                          <a:latin typeface="Segoe UI"/>
                        </a:rPr>
                        <a:t>Action Items · Status Change · Equip QA · Pre-launch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Apr 2026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177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~49 h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~26 h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~75 h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Full regression all 4 types · 38 deploys</a:t>
                      </a:r>
                    </a:p>
                  </a:txBody>
                  <a:tcPr>
                    <a:solidFill>
                      <a:srgbClr val="07201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CECEC"/>
                          </a:solidFill>
                          <a:latin typeface="Segoe UI"/>
                        </a:rPr>
                        <a:t>Dec 2025–Apr 2026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CECEC"/>
                          </a:solidFill>
                          <a:latin typeface="Segoe UI"/>
                        </a:rPr>
                        <a:t>331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CECEC"/>
                          </a:solidFill>
                          <a:latin typeface="Segoe UI"/>
                        </a:rPr>
                        <a:t>~125 h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CECEC"/>
                          </a:solidFill>
                          <a:latin typeface="Segoe UI"/>
                        </a:rPr>
                        <a:t>~40 h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CECEC"/>
                          </a:solidFill>
                          <a:latin typeface="Segoe UI"/>
                        </a:rPr>
                        <a:t>~174 h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CECEC"/>
                          </a:solidFill>
                          <a:latin typeface="Segoe UI"/>
                        </a:rPr>
                        <a:t>105 staging workflows · ~305 sheet writes · 4 types live</a:t>
                      </a:r>
                    </a:p>
                  </a:txBody>
                  <a:tcPr>
                    <a:solidFill>
                      <a:srgbClr val="28060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·  Employee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731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Maintainability &amp;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54864" cy="45720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Maintainability &amp;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9090"/>
                </a:solidFill>
                <a:latin typeface="Segoe UI"/>
              </a:rPr>
              <a:t>Version-controlled, environment-isolated, safe to hand off.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91640"/>
          <a:ext cx="1127455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31352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Concern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909090"/>
                          </a:solidFill>
                          <a:latin typeface="Segoe UI"/>
                        </a:rPr>
                        <a:t>How It's Addressed</a:t>
                      </a:r>
                    </a:p>
                  </a:txBody>
                  <a:tcPr>
                    <a:solidFill>
                      <a:srgbClr val="2020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Single developer dependency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All logic is version-controlled and documented. Separate testing environments make it safe for any developer to extend without risk to live data or active workflows.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Updating the system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Changes are tested in a staging environment first and only promoted to production after validation. Data model updates run safely without taking the system offline.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Google Workspace dependency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No new external dependency — the risk profile is identical to any existing use of Google Forms or Sheets in the organization.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AI-generated code quality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CECEC"/>
                          </a:solidFill>
                          <a:latin typeface="Segoe UI"/>
                        </a:rPr>
                        <a:t>Every component was reviewed, tested against real HR scenarios, and validated before going live. The ~174 hours is primarily review, direction, and QA — not passive acceptance of AI output.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TEAM Group  ·  Employee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731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9090"/>
                </a:solidFill>
                <a:latin typeface="Segoe UI"/>
              </a:rPr>
              <a:t>Bottom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Bottom 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1828800"/>
            <a:ext cx="1828800" cy="45720"/>
          </a:xfrm>
          <a:prstGeom prst="rect">
            <a:avLst/>
          </a:prstGeom>
          <a:solidFill>
            <a:srgbClr val="EB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10360152" cy="2286000"/>
          </a:xfrm>
          <a:prstGeom prst="rect">
            <a:avLst/>
          </a:prstGeom>
          <a:solidFill>
            <a:srgbClr val="04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Segoe UI"/>
              </a:rPr>
              <a:t>TEAM Group's HR onboarding and offboarding process moved from emailed spreadsheets to a fully tracked, accountable, automated workflow — built on tools the organization already uses, with zero new software, zero recurring licensing cost, and no external contractors.
The equivalent capability would cost $65K–$115K to outsource to a contractor and $180K–$450K+ per year to license from a workflow automation platform.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4572000"/>
            <a:ext cx="2468880" cy="457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59028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09090"/>
                </a:solidFill>
                <a:latin typeface="Segoe UI"/>
              </a:rPr>
              <a:t>331 tracked changes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57016" y="4572000"/>
            <a:ext cx="2468880" cy="457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459028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09090"/>
                </a:solidFill>
                <a:latin typeface="Segoe UI"/>
              </a:rPr>
              <a:t>48 active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4572000"/>
            <a:ext cx="2468880" cy="457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459028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09090"/>
                </a:solidFill>
                <a:latin typeface="Segoe UI"/>
              </a:rPr>
              <a:t>~174 hours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69096" y="4572000"/>
            <a:ext cx="2468880" cy="457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9096" y="459028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09090"/>
                </a:solidFill>
                <a:latin typeface="Segoe UI"/>
              </a:rPr>
              <a:t>4 workflow types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