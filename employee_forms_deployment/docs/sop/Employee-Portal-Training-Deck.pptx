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3" d="100"/>
          <a:sy n="123" d="100"/>
        </p:scale>
        <p:origin x="84" y="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8CB3F-5D6D-506A-511C-FD46B08AAF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2719508-7B18-9960-31D6-FA774D2B0D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B7469E9-535E-6818-2107-B032123B7C70}"/>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C0C295DB-A70E-2A27-30CD-110651B55C5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59FE212-D069-A520-1F95-607357CD7B06}"/>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3826538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1AA9-DCFB-1588-2ED9-02BB3055CF6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64E9A75-B9D0-6B76-578F-F290368AF6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B498856-C1E5-48B9-E599-299857179654}"/>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FB3D3C44-4950-9B11-DAE1-44CB439664A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AEE046A-7600-2A74-0889-480A03B035A0}"/>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399557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035D-8F51-824F-F15B-4467059EE6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623E731-91E9-2DCC-E779-455AE418ED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E62CA9-1A57-E7EE-877F-E19AC4ACF39F}"/>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74D25D61-411D-5275-197A-EE55C57BA1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D4C5232-DAC1-2740-CA92-E392368D4D7D}"/>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1761970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68A13-4003-5DE8-8FCC-AC1AAE6058A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95386D1-D5AE-4BD9-181E-6E48FE970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01CF4E6-2DE5-0A25-787A-FE293804F1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FDF019D-2451-4876-DFB2-C5A5181A0CA0}"/>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6" name="Footer Placeholder 5">
            <a:extLst>
              <a:ext uri="{FF2B5EF4-FFF2-40B4-BE49-F238E27FC236}">
                <a16:creationId xmlns:a16="http://schemas.microsoft.com/office/drawing/2014/main" id="{85CC8AEE-C508-C346-85BA-44BF08AA17D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F3009CB-02B0-AB8B-DF66-D39EC31F3BCD}"/>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1829102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DD623-BAA9-69E7-8514-C0489D6B1B2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0C03138-AAD6-38CA-380B-9B1A9E86DA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8DBC70-29F8-4829-6D49-5989D44CD5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455D40D-FD7D-C144-DEAF-2E02E520F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FF6AB9-9816-E9E7-A6F3-0C619A0B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D2AF911-2A26-2867-B0A3-0A49DF3246F3}"/>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8" name="Footer Placeholder 7">
            <a:extLst>
              <a:ext uri="{FF2B5EF4-FFF2-40B4-BE49-F238E27FC236}">
                <a16:creationId xmlns:a16="http://schemas.microsoft.com/office/drawing/2014/main" id="{6090457F-54F6-4098-CD9C-14B1891F11A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3A40D8F-B646-488C-CCE7-0F766BC89C93}"/>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309034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0507-CD3D-D8D4-D681-8BE0EA27258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6138F8B-92A8-EBAD-4AE3-1A356F3A0849}"/>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4" name="Footer Placeholder 3">
            <a:extLst>
              <a:ext uri="{FF2B5EF4-FFF2-40B4-BE49-F238E27FC236}">
                <a16:creationId xmlns:a16="http://schemas.microsoft.com/office/drawing/2014/main" id="{54B29C11-18CE-94F8-97AF-3168CE60488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D78E85A-49BA-5913-C272-E19A3AEEC4FF}"/>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728607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5413FF-A356-196B-8673-1CB9F961675F}"/>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3" name="Footer Placeholder 2">
            <a:extLst>
              <a:ext uri="{FF2B5EF4-FFF2-40B4-BE49-F238E27FC236}">
                <a16:creationId xmlns:a16="http://schemas.microsoft.com/office/drawing/2014/main" id="{872535BD-D981-DD2E-8692-59EBB3F567F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CFB96DC-2189-648F-F057-793D47DBBCCB}"/>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275431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41F6-C3F6-3BBA-564B-796CB6F455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7E36B23-FE5C-5F33-4D39-8EDA9D00DF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8A57C88-6E72-415A-D9F0-162E5D75F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7BA726-F30A-BAFE-FF64-0997C701D5A4}"/>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6" name="Footer Placeholder 5">
            <a:extLst>
              <a:ext uri="{FF2B5EF4-FFF2-40B4-BE49-F238E27FC236}">
                <a16:creationId xmlns:a16="http://schemas.microsoft.com/office/drawing/2014/main" id="{7A8F383E-C812-4666-0390-5972D4905E0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B1D293C-38CA-58BA-C7C5-6CDC68E9340C}"/>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332276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C460-EE59-17E9-3758-5A0A497A36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9CED085-47B5-0CD4-CC20-E312328373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AC5FD7-0B1F-D5E8-0B4D-B1D666CC86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DDA7B7-650D-67B1-3269-714688BD97D4}"/>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6" name="Footer Placeholder 5">
            <a:extLst>
              <a:ext uri="{FF2B5EF4-FFF2-40B4-BE49-F238E27FC236}">
                <a16:creationId xmlns:a16="http://schemas.microsoft.com/office/drawing/2014/main" id="{6C26338C-A13E-D6E5-6400-562EAA76573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A573FBB-D8D8-4822-A0C0-0EF78E358000}"/>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1715440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9DBF-9847-383C-FAA6-B11CD074F89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2169411-0045-9A13-9057-0ECADF7F57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A42DCB1-4794-45EE-295C-E3F309B6C2DA}"/>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26C93602-DB6E-07C1-586A-328E9B6E56F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FF1CF73-5CF7-70C9-ACDD-C225C92B1439}"/>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865347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44E11A-28C8-64AB-2EA7-C240EFD1A7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E6F6188-1605-3C8C-FD1E-B97C066DF6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922DFCE-BC63-D8B0-F8E8-B008263FE75F}"/>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F3DAD734-46BB-1C71-0872-8F8181A079E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A51666E-3D13-D0AB-DB3E-0827D0734F61}"/>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692378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D9E9-17BF-6ED1-A34B-DC6BC36A81FE}"/>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1E56989-B32C-EA59-8BC2-6935F4B1FC0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4C92AE8-A220-CA4D-DAE7-7B0E498322AA}"/>
              </a:ext>
            </a:extLst>
          </p:cNvPr>
          <p:cNvSpPr>
            <a:spLocks noGrp="1"/>
          </p:cNvSpPr>
          <p:nvPr>
            <p:ph type="dt" sz="half" idx="10"/>
          </p:nvPr>
        </p:nvSpPr>
        <p:spPr/>
        <p:txBody>
          <a:body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3CD9D602-BD2B-4E48-99A7-C0B51554D36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09F0927-71B4-994A-0F08-D86EE4E75505}"/>
              </a:ext>
            </a:extLst>
          </p:cNvPr>
          <p:cNvSpPr>
            <a:spLocks noGrp="1"/>
          </p:cNvSpPr>
          <p:nvPr>
            <p:ph type="sldNum" sz="quarter" idx="12"/>
          </p:nvPr>
        </p:nvSpPr>
        <p:spPr/>
        <p:txBody>
          <a:bodyPr/>
          <a:lstStyle/>
          <a:p>
            <a:fld id="{46AF9FE1-2D00-42C5-A580-654F23DC48F0}" type="slidenum">
              <a:rPr lang="en-CA" smtClean="0"/>
              <a:t>‹#›</a:t>
            </a:fld>
            <a:endParaRPr lang="en-CA"/>
          </a:p>
        </p:txBody>
      </p:sp>
    </p:spTree>
    <p:extLst>
      <p:ext uri="{BB962C8B-B14F-4D97-AF65-F5344CB8AC3E}">
        <p14:creationId xmlns:p14="http://schemas.microsoft.com/office/powerpoint/2010/main" val="378693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C5382E-D980-CEFB-CDDF-B6D474E2C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783F268-E399-E480-7317-48C1896D3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A8C13B-BDEA-7A2E-5E70-0D7A774BA1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CE6F4-AD02-493B-A661-4F76EEFA7A01}" type="datetimeFigureOut">
              <a:rPr lang="en-CA" smtClean="0"/>
              <a:t>2026-05-08</a:t>
            </a:fld>
            <a:endParaRPr lang="en-CA"/>
          </a:p>
        </p:txBody>
      </p:sp>
      <p:sp>
        <p:nvSpPr>
          <p:cNvPr id="5" name="Footer Placeholder 4">
            <a:extLst>
              <a:ext uri="{FF2B5EF4-FFF2-40B4-BE49-F238E27FC236}">
                <a16:creationId xmlns:a16="http://schemas.microsoft.com/office/drawing/2014/main" id="{7BD65064-FE0C-6806-BD18-1078BE03A6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1E7F1445-09F4-16EA-63A7-D60CB781B2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AF9FE1-2D00-42C5-A580-654F23DC48F0}" type="slidenum">
              <a:rPr lang="en-CA" smtClean="0"/>
              <a:t>‹#›</a:t>
            </a:fld>
            <a:endParaRPr lang="en-CA"/>
          </a:p>
        </p:txBody>
      </p:sp>
    </p:spTree>
    <p:extLst>
      <p:ext uri="{BB962C8B-B14F-4D97-AF65-F5344CB8AC3E}">
        <p14:creationId xmlns:p14="http://schemas.microsoft.com/office/powerpoint/2010/main" val="359867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AA777-A567-E337-40FE-19B3E3F5B56E}"/>
              </a:ext>
            </a:extLst>
          </p:cNvPr>
          <p:cNvSpPr>
            <a:spLocks noGrp="1"/>
          </p:cNvSpPr>
          <p:nvPr>
            <p:ph type="ctrTitle"/>
          </p:nvPr>
        </p:nvSpPr>
        <p:spPr/>
        <p:txBody>
          <a:bodyPr>
            <a:normAutofit/>
          </a:bodyPr>
          <a:lstStyle/>
          <a:p>
            <a:r>
              <a:rPr lang="en-CA" sz="4400" b="1">
                <a:solidFill>
                  <a:srgbClr val="FFFFFF"/>
                </a:solidFill>
              </a:rPr>
              <a:t>TEAM Group Employee Portal</a:t>
            </a:r>
          </a:p>
        </p:txBody>
      </p:sp>
      <p:sp>
        <p:nvSpPr>
          <p:cNvPr id="3" name="Subtitle 2">
            <a:extLst>
              <a:ext uri="{FF2B5EF4-FFF2-40B4-BE49-F238E27FC236}">
                <a16:creationId xmlns:a16="http://schemas.microsoft.com/office/drawing/2014/main" id="{1C2068B9-47FE-CDC9-9479-482353C77593}"/>
              </a:ext>
            </a:extLst>
          </p:cNvPr>
          <p:cNvSpPr>
            <a:spLocks noGrp="1"/>
          </p:cNvSpPr>
          <p:nvPr>
            <p:ph type="subTitle" idx="1"/>
          </p:nvPr>
        </p:nvSpPr>
        <p:spPr/>
        <p:txBody>
          <a:bodyPr>
            <a:normAutofit/>
          </a:bodyPr>
          <a:lstStyle/>
          <a:p>
            <a:r>
              <a:rPr lang="en-CA">
                <a:solidFill>
                  <a:srgbClr val="C8C8D2"/>
                </a:solidFill>
              </a:rPr>
              <a:t>Manager Training Guide  |  2026</a:t>
            </a:r>
          </a:p>
        </p:txBody>
      </p:sp>
    </p:spTree>
    <p:extLst>
      <p:ext uri="{BB962C8B-B14F-4D97-AF65-F5344CB8AC3E}">
        <p14:creationId xmlns:p14="http://schemas.microsoft.com/office/powerpoint/2010/main" val="2589544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F476-7FE2-0C23-F1AD-CCCCAEAB2D4B}"/>
              </a:ext>
            </a:extLst>
          </p:cNvPr>
          <p:cNvSpPr>
            <a:spLocks noGrp="1"/>
          </p:cNvSpPr>
          <p:nvPr>
            <p:ph type="title"/>
          </p:nvPr>
        </p:nvSpPr>
        <p:spPr/>
        <p:txBody>
          <a:bodyPr>
            <a:normAutofit/>
          </a:bodyPr>
          <a:lstStyle/>
          <a:p>
            <a:r>
              <a:rPr lang="en-US" sz="3600" b="1">
                <a:solidFill>
                  <a:srgbClr val="F05050"/>
                </a:solidFill>
              </a:rPr>
              <a:t>What Is the Employee Portal?</a:t>
            </a:r>
            <a:endParaRPr lang="en-CA" sz="3600" b="1">
              <a:solidFill>
                <a:srgbClr val="F05050"/>
              </a:solidFill>
            </a:endParaRPr>
          </a:p>
        </p:txBody>
      </p:sp>
      <p:sp>
        <p:nvSpPr>
          <p:cNvPr id="3" name="Text Placeholder 2">
            <a:extLst>
              <a:ext uri="{FF2B5EF4-FFF2-40B4-BE49-F238E27FC236}">
                <a16:creationId xmlns:a16="http://schemas.microsoft.com/office/drawing/2014/main" id="{1ECF23D9-03BD-B602-9F4C-693A477BB4F7}"/>
              </a:ext>
            </a:extLst>
          </p:cNvPr>
          <p:cNvSpPr>
            <a:spLocks noGrp="1"/>
          </p:cNvSpPr>
          <p:nvPr>
            <p:ph type="body" idx="1"/>
          </p:nvPr>
        </p:nvSpPr>
        <p:spPr/>
        <p:txBody>
          <a:bodyPr wrap="square">
            <a:noAutofit/>
          </a:bodyPr>
          <a:lstStyle/>
          <a:p>
            <a:pPr marL="0" indent="0">
              <a:buNone/>
            </a:pPr>
            <a:r>
              <a:rPr lang="en-US" sz="1700">
                <a:solidFill>
                  <a:srgbClr val="C8C8D2"/>
                </a:solidFill>
              </a:rPr>
              <a:t>A Google Apps Script system that automates paperwork across every employee lifecycle event.
REPLACES:
  - Manual emails and text chains between managers and HR/IT
  - Untracked spreadsheet entries and verbal handoffs
HOW IT WORKS:
  - ~50 managers submit requests through guided web forms
  - Each step auto-notifies the right person once the previous step is done
  - The system tracks every open item -- nothing falls through
FOUR SUPPORTED EVENTS:
  1. New employee joining the company
  2. Existing employee needs additional access or equipment
  3. Employee leaving (End of Employment)
  4. Employee changing role, site, manager, or classification</a:t>
            </a:r>
            <a:endParaRPr lang="en-CA" sz="1700">
              <a:solidFill>
                <a:srgbClr val="C8C8D2"/>
              </a:solidFill>
            </a:endParaRPr>
          </a:p>
        </p:txBody>
      </p:sp>
    </p:spTree>
    <p:extLst>
      <p:ext uri="{BB962C8B-B14F-4D97-AF65-F5344CB8AC3E}">
        <p14:creationId xmlns:p14="http://schemas.microsoft.com/office/powerpoint/2010/main" val="880244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9F0FB-061A-3EDA-2763-86268781CA24}"/>
              </a:ext>
            </a:extLst>
          </p:cNvPr>
          <p:cNvSpPr>
            <a:spLocks noGrp="1"/>
          </p:cNvSpPr>
          <p:nvPr>
            <p:ph type="title"/>
          </p:nvPr>
        </p:nvSpPr>
        <p:spPr/>
        <p:txBody>
          <a:bodyPr>
            <a:normAutofit/>
          </a:bodyPr>
          <a:lstStyle/>
          <a:p>
            <a:r>
              <a:rPr lang="en-US" sz="3600" b="1">
                <a:solidFill>
                  <a:srgbClr val="F05050"/>
                </a:solidFill>
              </a:rPr>
              <a:t>How It Works: Sequential Gating</a:t>
            </a:r>
            <a:endParaRPr lang="en-CA" sz="3600" b="1">
              <a:solidFill>
                <a:srgbClr val="F05050"/>
              </a:solidFill>
            </a:endParaRPr>
          </a:p>
        </p:txBody>
      </p:sp>
      <p:sp>
        <p:nvSpPr>
          <p:cNvPr id="3" name="Text Placeholder 2">
            <a:extLst>
              <a:ext uri="{FF2B5EF4-FFF2-40B4-BE49-F238E27FC236}">
                <a16:creationId xmlns:a16="http://schemas.microsoft.com/office/drawing/2014/main" id="{4860F168-FF28-1259-E01A-B633F6A85358}"/>
              </a:ext>
            </a:extLst>
          </p:cNvPr>
          <p:cNvSpPr>
            <a:spLocks noGrp="1"/>
          </p:cNvSpPr>
          <p:nvPr>
            <p:ph type="body" idx="1"/>
          </p:nvPr>
        </p:nvSpPr>
        <p:spPr/>
        <p:txBody>
          <a:bodyPr wrap="square">
            <a:normAutofit/>
          </a:bodyPr>
          <a:lstStyle/>
          <a:p>
            <a:pPr marL="0" indent="0">
              <a:buNone/>
            </a:pPr>
            <a:r>
              <a:rPr lang="en-US" sz="1700">
                <a:solidFill>
                  <a:srgbClr val="C8C8D2"/>
                </a:solidFill>
              </a:rPr>
              <a:t>Each step is locked until the previous actor completes their task.
THE CHAIN:
  1  Manager submits a request -- ticket created in the system
  2  First actor gets an email with a direct link to their action form
  3  They complete their step -- system records the result
  4  Next actor is notified automatically -- chain continues
  5  Ticket closes when all steps are done
FOR MANAGERS:
  - No follow-up emails needed -- the system handles all notifications
  - Dashboard shows exactly which step is waiting if something stalls
  - Routing is automatic (hourly vs salary, access vs no access)
  - Every step is timestamped and auditable</a:t>
            </a:r>
            <a:endParaRPr lang="en-CA" sz="1700">
              <a:solidFill>
                <a:srgbClr val="C8C8D2"/>
              </a:solidFill>
            </a:endParaRPr>
          </a:p>
        </p:txBody>
      </p:sp>
    </p:spTree>
    <p:extLst>
      <p:ext uri="{BB962C8B-B14F-4D97-AF65-F5344CB8AC3E}">
        <p14:creationId xmlns:p14="http://schemas.microsoft.com/office/powerpoint/2010/main" val="2435169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6B84-E46A-5E1A-6D13-CEA2442453D4}"/>
              </a:ext>
            </a:extLst>
          </p:cNvPr>
          <p:cNvSpPr>
            <a:spLocks noGrp="1"/>
          </p:cNvSpPr>
          <p:nvPr>
            <p:ph type="title"/>
          </p:nvPr>
        </p:nvSpPr>
        <p:spPr/>
        <p:txBody>
          <a:bodyPr>
            <a:normAutofit/>
          </a:bodyPr>
          <a:lstStyle/>
          <a:p>
            <a:r>
              <a:rPr lang="en-CA" sz="3600" b="1">
                <a:solidFill>
                  <a:srgbClr val="F05050"/>
                </a:solidFill>
              </a:rPr>
              <a:t>The Four Workflows</a:t>
            </a:r>
          </a:p>
        </p:txBody>
      </p:sp>
      <p:sp>
        <p:nvSpPr>
          <p:cNvPr id="3" name="Text Placeholder 2">
            <a:extLst>
              <a:ext uri="{FF2B5EF4-FFF2-40B4-BE49-F238E27FC236}">
                <a16:creationId xmlns:a16="http://schemas.microsoft.com/office/drawing/2014/main" id="{1F5AC3DA-63CD-9812-D6A6-7CF6962778BD}"/>
              </a:ext>
            </a:extLst>
          </p:cNvPr>
          <p:cNvSpPr>
            <a:spLocks noGrp="1"/>
          </p:cNvSpPr>
          <p:nvPr>
            <p:ph type="body" idx="1"/>
          </p:nvPr>
        </p:nvSpPr>
        <p:spPr/>
        <p:txBody>
          <a:bodyPr wrap="square">
            <a:noAutofit/>
          </a:bodyPr>
          <a:lstStyle/>
          <a:p>
            <a:pPr marL="0" indent="0">
              <a:buNone/>
            </a:pPr>
            <a:r>
              <a:rPr lang="en-US" sz="1600">
                <a:solidFill>
                  <a:srgbClr val="C8C8D2"/>
                </a:solidFill>
              </a:rPr>
              <a:t>Click a workflow name below to open its full SOP guide.
New Employee Request
  Hiring a new employee (hourly or salary). ID setup, HR verification,
  IT access, specialists, and 30/60/90 review.
System and Equipment Request
  Existing employee needs access or equipment. No HR gate --
  goes straight to IT Confirmation then IT Setup.
End of Employment (EOE)
  Employee leaving. HR approval gate for terminations.
  System access removal, Google offboarding, equipment return.
Status and Position Change
  Role, site, manager, or classification change. HR approval required.
  New access provisioned and old access removed in one request.</a:t>
            </a:r>
            <a:endParaRPr lang="en-CA" sz="1600">
              <a:solidFill>
                <a:srgbClr val="C8C8D2"/>
              </a:solidFill>
            </a:endParaRPr>
          </a:p>
        </p:txBody>
      </p:sp>
    </p:spTree>
    <p:extLst>
      <p:ext uri="{BB962C8B-B14F-4D97-AF65-F5344CB8AC3E}">
        <p14:creationId xmlns:p14="http://schemas.microsoft.com/office/powerpoint/2010/main" val="130155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AB41E-3836-459B-E16D-E412E24DAFD5}"/>
              </a:ext>
            </a:extLst>
          </p:cNvPr>
          <p:cNvSpPr>
            <a:spLocks noGrp="1"/>
          </p:cNvSpPr>
          <p:nvPr>
            <p:ph type="title"/>
          </p:nvPr>
        </p:nvSpPr>
        <p:spPr/>
        <p:txBody>
          <a:bodyPr>
            <a:normAutofit/>
          </a:bodyPr>
          <a:lstStyle/>
          <a:p>
            <a:r>
              <a:rPr lang="en-CA" sz="3400" b="1">
                <a:solidFill>
                  <a:srgbClr val="F05050"/>
                </a:solidFill>
              </a:rPr>
              <a:t>New Employee Request -- Overview</a:t>
            </a:r>
          </a:p>
        </p:txBody>
      </p:sp>
      <p:sp>
        <p:nvSpPr>
          <p:cNvPr id="3" name="Text Placeholder 2">
            <a:extLst>
              <a:ext uri="{FF2B5EF4-FFF2-40B4-BE49-F238E27FC236}">
                <a16:creationId xmlns:a16="http://schemas.microsoft.com/office/drawing/2014/main" id="{4D988E8F-6D07-583B-BFB5-465F5A5F9DEC}"/>
              </a:ext>
            </a:extLst>
          </p:cNvPr>
          <p:cNvSpPr>
            <a:spLocks noGrp="1"/>
          </p:cNvSpPr>
          <p:nvPr>
            <p:ph type="body" idx="1"/>
          </p:nvPr>
        </p:nvSpPr>
        <p:spPr/>
        <p:txBody>
          <a:bodyPr wrap="square">
            <a:noAutofit/>
          </a:bodyPr>
          <a:lstStyle/>
          <a:p>
            <a:pPr marL="0" indent="0">
              <a:buNone/>
            </a:pPr>
            <a:r>
              <a:rPr lang="en-US" sz="1600">
                <a:solidFill>
                  <a:srgbClr val="C8C8D2"/>
                </a:solidFill>
              </a:rPr>
              <a:t>Who: Manager or supervisor of the incoming employee
When: Before or on the employee's first day
ROUTING AT SUBMISSION:
  - Salary? Triggers JR title assignment and 30/60/90 review
  - System/equipment access? Triggers IT Confirmation gate
  - No access needed? Skips IT steps entirely
STEPS:
  1. ID Setup          Employee ID, SiteDocs Worker, DSS Training account
  2. Safety Onboarding SiteDocs locations and DSS learning paths
  3. HR Verification   Cross-check name, title, manager, ADP ID
  4. IT Confirmation   Reviews system access scope (if access requested)
  5. IT Setup          Google account, computer, phone, BOSS provisioned
  6. Specialists       Credit card, business cards, Fleetio, Jonas (parallel)
  7. 30/60/90 Review   Salary employees only (parallel)</a:t>
            </a:r>
            <a:endParaRPr lang="en-CA" sz="1600">
              <a:solidFill>
                <a:srgbClr val="C8C8D2"/>
              </a:solidFill>
            </a:endParaRPr>
          </a:p>
        </p:txBody>
      </p:sp>
    </p:spTree>
    <p:extLst>
      <p:ext uri="{BB962C8B-B14F-4D97-AF65-F5344CB8AC3E}">
        <p14:creationId xmlns:p14="http://schemas.microsoft.com/office/powerpoint/2010/main" val="378289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9CC41-4116-0E07-2835-B84C1FBE96EA}"/>
              </a:ext>
            </a:extLst>
          </p:cNvPr>
          <p:cNvSpPr>
            <a:spLocks noGrp="1"/>
          </p:cNvSpPr>
          <p:nvPr>
            <p:ph type="title"/>
          </p:nvPr>
        </p:nvSpPr>
        <p:spPr/>
        <p:txBody>
          <a:bodyPr>
            <a:normAutofit/>
          </a:bodyPr>
          <a:lstStyle/>
          <a:p>
            <a:r>
              <a:rPr lang="en-US" sz="3400" b="1">
                <a:solidFill>
                  <a:srgbClr val="F05050"/>
                </a:solidFill>
              </a:rPr>
              <a:t>System and Equipment Request -- Overview</a:t>
            </a:r>
            <a:endParaRPr lang="en-CA" sz="3400" b="1">
              <a:solidFill>
                <a:srgbClr val="F05050"/>
              </a:solidFill>
            </a:endParaRPr>
          </a:p>
        </p:txBody>
      </p:sp>
      <p:sp>
        <p:nvSpPr>
          <p:cNvPr id="3" name="Text Placeholder 2">
            <a:extLst>
              <a:ext uri="{FF2B5EF4-FFF2-40B4-BE49-F238E27FC236}">
                <a16:creationId xmlns:a16="http://schemas.microsoft.com/office/drawing/2014/main" id="{89E713D8-99CA-D4E6-73FA-9FC66588DD7E}"/>
              </a:ext>
            </a:extLst>
          </p:cNvPr>
          <p:cNvSpPr>
            <a:spLocks noGrp="1"/>
          </p:cNvSpPr>
          <p:nvPr>
            <p:ph type="body" idx="1"/>
          </p:nvPr>
        </p:nvSpPr>
        <p:spPr/>
        <p:txBody>
          <a:bodyPr wrap="square">
            <a:normAutofit/>
          </a:bodyPr>
          <a:lstStyle/>
          <a:p>
            <a:pPr marL="0" indent="0">
              <a:buNone/>
            </a:pPr>
            <a:r>
              <a:rPr lang="en-US" sz="1600">
                <a:solidFill>
                  <a:srgbClr val="C8C8D2"/>
                </a:solidFill>
              </a:rPr>
              <a:t>Who: Manager of an existing employee
When: Any time an employee needs new system access or equipment
USE THIS FORM WHEN:
  - Employee moves to a new role and needs BOSS access for new committees
  - Existing employee needs a Google account for the first time
  - Equipment is being issued to a current employee
STEPS:
  1. IT Confirmation  Reviews and approves the access scope
  2. IT Setup         Google account, computer, BOSS, systems provisioned
  3. Specialists      Credit card, Jonas, Fleetio, business cards (parallel)
No HR gate. No ID Setup or Safety step. Fastest path for access changes.</a:t>
            </a:r>
            <a:endParaRPr lang="en-CA" sz="1600">
              <a:solidFill>
                <a:srgbClr val="C8C8D2"/>
              </a:solidFill>
            </a:endParaRPr>
          </a:p>
        </p:txBody>
      </p:sp>
    </p:spTree>
    <p:extLst>
      <p:ext uri="{BB962C8B-B14F-4D97-AF65-F5344CB8AC3E}">
        <p14:creationId xmlns:p14="http://schemas.microsoft.com/office/powerpoint/2010/main" val="1147821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8A71-12B0-12C0-F938-614B8BC6C3ED}"/>
              </a:ext>
            </a:extLst>
          </p:cNvPr>
          <p:cNvSpPr>
            <a:spLocks noGrp="1"/>
          </p:cNvSpPr>
          <p:nvPr>
            <p:ph type="title"/>
          </p:nvPr>
        </p:nvSpPr>
        <p:spPr/>
        <p:txBody>
          <a:bodyPr>
            <a:normAutofit/>
          </a:bodyPr>
          <a:lstStyle/>
          <a:p>
            <a:r>
              <a:rPr lang="en-US" sz="3400" b="1">
                <a:solidFill>
                  <a:srgbClr val="F05050"/>
                </a:solidFill>
              </a:rPr>
              <a:t>End of Employment (EOE) -- Overview</a:t>
            </a:r>
            <a:endParaRPr lang="en-CA" sz="3400" b="1">
              <a:solidFill>
                <a:srgbClr val="F05050"/>
              </a:solidFill>
            </a:endParaRPr>
          </a:p>
        </p:txBody>
      </p:sp>
      <p:sp>
        <p:nvSpPr>
          <p:cNvPr id="3" name="Text Placeholder 2">
            <a:extLst>
              <a:ext uri="{FF2B5EF4-FFF2-40B4-BE49-F238E27FC236}">
                <a16:creationId xmlns:a16="http://schemas.microsoft.com/office/drawing/2014/main" id="{BA1481DE-670D-A344-5C05-905DC5EE12AE}"/>
              </a:ext>
            </a:extLst>
          </p:cNvPr>
          <p:cNvSpPr>
            <a:spLocks noGrp="1"/>
          </p:cNvSpPr>
          <p:nvPr>
            <p:ph type="body" idx="1"/>
          </p:nvPr>
        </p:nvSpPr>
        <p:spPr/>
        <p:txBody>
          <a:bodyPr wrap="square">
            <a:noAutofit/>
          </a:bodyPr>
          <a:lstStyle/>
          <a:p>
            <a:pPr marL="0" indent="0">
              <a:buNone/>
            </a:pPr>
            <a:r>
              <a:rPr lang="en-US" sz="1600">
                <a:solidFill>
                  <a:srgbClr val="C8C8D2"/>
                </a:solidFill>
              </a:rPr>
              <a:t>Who: Manager of the departing employee
When: As soon as the departure is known
DEPARTURE TYPES:
  - Resignation / Retirement  No HR approval -- goes to offboarding directly
  - Termination               HR must approve before offboarding begins
CAPTURED AT SUBMISSION:
  - Last day worked and final pay date
  - Systems to remove access from (ADP, BOSS, Google, Jonas, SiteDocs...)
  - Google offboarding options (Drive transfer, email forwarding)
  - Equipment to be returned (computer, phone, tablet, vehicle, card)
  - Direct reports and whether reassignment is needed
STEPS:
  1. HR Approval (terminations only) -- approves or rejects with notes
  2. IT Offboarding -- access removal, Google suspension or transfer
  3. Equipment Collection -- items tracked and confirmed returned</a:t>
            </a:r>
            <a:endParaRPr lang="en-CA" sz="1600">
              <a:solidFill>
                <a:srgbClr val="C8C8D2"/>
              </a:solidFill>
            </a:endParaRPr>
          </a:p>
        </p:txBody>
      </p:sp>
    </p:spTree>
    <p:extLst>
      <p:ext uri="{BB962C8B-B14F-4D97-AF65-F5344CB8AC3E}">
        <p14:creationId xmlns:p14="http://schemas.microsoft.com/office/powerpoint/2010/main" val="162778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162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A058-DFB3-2BF8-21ED-6623E370EC65}"/>
              </a:ext>
            </a:extLst>
          </p:cNvPr>
          <p:cNvSpPr>
            <a:spLocks noGrp="1"/>
          </p:cNvSpPr>
          <p:nvPr>
            <p:ph type="title"/>
          </p:nvPr>
        </p:nvSpPr>
        <p:spPr/>
        <p:txBody>
          <a:bodyPr>
            <a:normAutofit/>
          </a:bodyPr>
          <a:lstStyle/>
          <a:p>
            <a:r>
              <a:rPr lang="en-US" sz="3400" b="1">
                <a:solidFill>
                  <a:srgbClr val="F05050"/>
                </a:solidFill>
              </a:rPr>
              <a:t>Status and Position Change -- Overview</a:t>
            </a:r>
            <a:endParaRPr lang="en-CA" sz="3400" b="1">
              <a:solidFill>
                <a:srgbClr val="F05050"/>
              </a:solidFill>
            </a:endParaRPr>
          </a:p>
        </p:txBody>
      </p:sp>
      <p:sp>
        <p:nvSpPr>
          <p:cNvPr id="3" name="Text Placeholder 2">
            <a:extLst>
              <a:ext uri="{FF2B5EF4-FFF2-40B4-BE49-F238E27FC236}">
                <a16:creationId xmlns:a16="http://schemas.microsoft.com/office/drawing/2014/main" id="{75CF24BE-0980-90F5-3654-490F45383932}"/>
              </a:ext>
            </a:extLst>
          </p:cNvPr>
          <p:cNvSpPr>
            <a:spLocks noGrp="1"/>
          </p:cNvSpPr>
          <p:nvPr>
            <p:ph type="body" idx="1"/>
          </p:nvPr>
        </p:nvSpPr>
        <p:spPr/>
        <p:txBody>
          <a:bodyPr wrap="square">
            <a:noAutofit/>
          </a:bodyPr>
          <a:lstStyle/>
          <a:p>
            <a:pPr marL="0" indent="0">
              <a:buNone/>
            </a:pPr>
            <a:r>
              <a:rPr lang="en-US" sz="1600">
                <a:solidFill>
                  <a:srgbClr val="C8C8D2"/>
                </a:solidFill>
              </a:rPr>
              <a:t>Who: Manager of the employee whose role or situation is changing
When: Before the change takes effect whenever possible
CHANGE TYPES (check all that apply):
  - Site Transfer          New site and department sub-section appears
  - Position Change        New job title and JR title fields appear
  - Classification Change  Hourly-to-Salary toggle with supporting details
  - Manager Change         New manager email field appears
ALSO CAPTURED:
  - New system / equipment access to provision
  - Equipment to return (computer, phone, tablet, vehicle, card)
  - Access to remove (ADP, BOSS, CAA, Google, Jonas, SiteDocs...)
  - Handling of any direct reports
STEPS:
  1. HR Approval   Reviews all changes, confirms new title and JR title
  2. IT + Specialists  New access provisioned, old access revoked (parallel)</a:t>
            </a:r>
            <a:endParaRPr lang="en-CA" sz="1600">
              <a:solidFill>
                <a:srgbClr val="C8C8D2"/>
              </a:solidFill>
            </a:endParaRPr>
          </a:p>
        </p:txBody>
      </p:sp>
    </p:spTree>
    <p:extLst>
      <p:ext uri="{BB962C8B-B14F-4D97-AF65-F5344CB8AC3E}">
        <p14:creationId xmlns:p14="http://schemas.microsoft.com/office/powerpoint/2010/main" val="368580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1082</Words>
  <Application>Microsoft Office PowerPoint</Application>
  <PresentationFormat>Custom</PresentationFormat>
  <Paragraphs>16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TEAM Group Employee Portal</vt:lpstr>
      <vt:lpstr>What Is the Employee Portal?</vt:lpstr>
      <vt:lpstr>How It Works: Sequential Gating</vt:lpstr>
      <vt:lpstr>The Four Workflows</vt:lpstr>
      <vt:lpstr>New Employee Request -- Overview</vt:lpstr>
      <vt:lpstr>System and Equipment Request -- Overview</vt:lpstr>
      <vt:lpstr>End of Employment (EOE) -- Overview</vt:lpstr>
      <vt:lpstr>Status and Position Change --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Binns</dc:creator>
  <cp:lastModifiedBy>Daniel Binns</cp:lastModifiedBy>
  <cp:revision>1</cp:revision>
  <dcterms:created xsi:type="dcterms:W3CDTF">2026-05-08T17:33:00Z</dcterms:created>
  <dcterms:modified xsi:type="dcterms:W3CDTF">2026-05-08T17:33:00Z</dcterms:modified>
</cp:coreProperties>
</file>